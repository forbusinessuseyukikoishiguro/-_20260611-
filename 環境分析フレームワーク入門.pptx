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937760" cy="4937760"/>
          </a:xfrm>
          <a:prstGeom prst="ellipse">
            <a:avLst/>
          </a:prstGeom>
          <a:solidFill>
            <a:srgbClr val="47172C"/>
          </a:solidFill>
          <a:ln w="12700">
            <a:solidFill>
              <a:srgbClr val="A23E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731520"/>
            <a:ext cx="3291840" cy="3291840"/>
          </a:xfrm>
          <a:prstGeom prst="ellipse">
            <a:avLst/>
          </a:prstGeom>
          <a:solidFill>
            <a:srgbClr val="5C2438"/>
          </a:solidFill>
          <a:ln w="12700">
            <a:solidFill>
              <a:srgbClr val="BE647D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-45720"/>
            <a:ext cx="1920240" cy="1920240"/>
          </a:xfrm>
          <a:prstGeom prst="ellipse">
            <a:avLst/>
          </a:prstGeom>
          <a:solidFill>
            <a:srgbClr val="A23E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5029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ENVIRONMENTAL ANALYSIS  /  経営企画の基礎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環境分析フレームワーク 入門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物流業の経営企画を題材に ―― 外部環境と内部環境を読み解く視点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114800"/>
            <a:ext cx="5669280" cy="548640"/>
          </a:xfrm>
          <a:prstGeom prst="roundRect">
            <a:avLst>
              <a:gd name="adj" fmla="val 50000"/>
            </a:avLst>
          </a:prstGeom>
          <a:solidFill>
            <a:srgbClr val="47172C"/>
          </a:solidFill>
          <a:ln w="12700">
            <a:solidFill>
              <a:srgbClr val="BE647D">
                <a:alpha val="7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98C6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面白きこともなき世を面白く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法人研修向け 学習資料  |  うさうさ研修工房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本日の全体像 ― 環境分析の地図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企業を取り巻く環境は「外部」と「内部」に分かれます。外部はさらに、社会全体を見る マクロ視点と、業界内を見るミクロ視点に整理できます。本資料ではこの地図に沿って学びます。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E8A99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2395728" y="2587752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7157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3375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マクロ環境（外部）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68680" y="40233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社会全体の大きな流れ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68680" y="472744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使うツール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PEST分析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557016" y="23317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85616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E8A99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312664" y="2587752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7157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85616" y="33375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業界環境（外部・ミクロ）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785616" y="40233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業界の競争・収益構造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785616" y="472744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使うツール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ファイブフォース分析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473952" y="23317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702552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E8A99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8229600" y="2587752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71576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02552" y="33375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顧客・市場（ミクロ）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702552" y="40233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顧客が本当に求めるもの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02552" y="472744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使うツール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マーケットイン / 定性分析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390888" y="23317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7ECE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619488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E8A99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11146536" y="2587752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552" y="271576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19488" y="33375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内部環境（自社）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619488" y="40233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自社の経営資源・強み弱み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9619488" y="472744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使うツール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物流の基礎・3PL / 4PL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なぜ「環境分析」をするのか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5C2438"/>
          </a:solidFill>
          <a:ln/>
          <a:effectLst>
            <a:outerShdw sx="100000" sy="100000" kx="0" ky="0" algn="bl" rotWithShape="0" blurRad="114300" dist="38100" dir="5400000">
              <a:srgbClr val="5C243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経営企画の出発点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自社では変えられない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大きな流れを、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客観的な事実として掴む。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" y="4160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その上で、自社にとっての「機会（チャンス）」と「脅威（リスク）」を見極める。これが戦略を立てる土台になります。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07568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128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方向を見失わない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06640" y="22585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景気・人口動態・法規制など、自社の努力では動かせない前提を先に押さえる。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3172968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29400" y="3557016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941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33741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機会と脅威を分ける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06640" y="373989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同じ事実でも、自社にとって追い風か向かい風かを切り分けて判断する。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654296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5038344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17550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855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打ち手に根拠を持たせる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06640" y="5221224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「なんとなく」ではなく、事実（データ）に基づいて戦略を組み立てられる。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VIEWPOINT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2つの視点 ― マクロ的 と ミクロ的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正しく判断するには、上空から全体を見渡す視点（マクロ）と、地上で細部を確かめる視点（ミクロ）を行き来することが大切です。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468880"/>
            <a:ext cx="868680" cy="8686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670048"/>
            <a:ext cx="466344" cy="4663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MACRO ・ 巨視的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05740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マクロ視点</a:t>
            </a:r>
            <a:endParaRPr lang="en-US" sz="2300" dirty="0"/>
          </a:p>
        </p:txBody>
      </p:sp>
      <p:sp>
        <p:nvSpPr>
          <p:cNvPr id="12" name="Shape 8"/>
          <p:cNvSpPr/>
          <p:nvPr/>
        </p:nvSpPr>
        <p:spPr>
          <a:xfrm>
            <a:off x="1005840" y="3611880"/>
            <a:ext cx="4617720" cy="0"/>
          </a:xfrm>
          <a:prstGeom prst="line">
            <a:avLst/>
          </a:prstGeom>
          <a:noFill/>
          <a:ln w="12700">
            <a:solidFill>
              <a:srgbClr val="EAD0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3749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社会・経済全体という大きな単位で、業界トレンドや法規制、景気・人口動態など「外部環境全体」を見渡す。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4709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物流業での例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ドライバー人口の減少、燃料価格の上昇、物流2024年問題などの大きな潮流。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031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468880"/>
            <a:ext cx="868680" cy="8686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7004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16952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MICRO ・ 微視的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16952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ミクロ視点</a:t>
            </a:r>
            <a:endParaRPr lang="en-US" sz="2300" dirty="0"/>
          </a:p>
        </p:txBody>
      </p:sp>
      <p:sp>
        <p:nvSpPr>
          <p:cNvPr id="20" name="Shape 15"/>
          <p:cNvSpPr/>
          <p:nvPr/>
        </p:nvSpPr>
        <p:spPr>
          <a:xfrm>
            <a:off x="6565392" y="3611880"/>
            <a:ext cx="4617720" cy="0"/>
          </a:xfrm>
          <a:prstGeom prst="line">
            <a:avLst/>
          </a:prstGeom>
          <a:noFill/>
          <a:ln w="12700">
            <a:solidFill>
              <a:srgbClr val="EAD0D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65392" y="3749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個々の顧客や現場という小さな単位で、特定市場の需要や現場の業務フローなど「局所的な部分」に焦点を当てる。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65392" y="4709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物流業での例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特定荷主の出荷量の増減、現場ドライバーが抱える積み込みの課題など。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分析の枠組み ― 外部 と 内部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「自社でコントロールできるか」で外部と内部を分け、外部はさらにマクロとミクロで整理します。フレームワークは下表の位置に対応します。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5176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外部環境（自社で変えられない）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5C243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6060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マクロ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（社会全体）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297680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A23E5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976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ミクロ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（業界・顧客）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42032" y="2606040"/>
            <a:ext cx="6400800" cy="1554480"/>
          </a:xfrm>
          <a:prstGeom prst="roundRect">
            <a:avLst>
              <a:gd name="adj" fmla="val 4706"/>
            </a:avLst>
          </a:prstGeom>
          <a:solidFill>
            <a:srgbClr val="F7ECE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816352" y="28072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政治・経済・社会・技術の大きな流れ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16352" y="3227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景気、金利、為替、人口動態、法改正、新技術の登場など。自社の前提条件となる要因。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816352" y="3657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PEST分析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42032" y="4297680"/>
            <a:ext cx="3108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816352" y="4498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業界の競争構造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16352" y="4919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競合・新規参入・代替品・取引先との力関係。業界の儲けやすさを左右する。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816352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ファイブフォース分析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33872" y="4297680"/>
            <a:ext cx="3108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08192" y="4498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顧客・市場のニーズ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08192" y="4919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顧客が本当に求めるもの。数値で見えない現場の声も含めて把握する。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108192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マーケットイン / 定性分析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098280" y="2606040"/>
            <a:ext cx="2450592" cy="3474720"/>
          </a:xfrm>
          <a:prstGeom prst="roundRect">
            <a:avLst>
              <a:gd name="adj" fmla="val 3731"/>
            </a:avLst>
          </a:prstGeom>
          <a:solidFill>
            <a:srgbClr val="5C2438"/>
          </a:solidFill>
          <a:ln/>
          <a:effectLst>
            <a:outerShdw sx="100000" sy="100000" kx="0" ky="0" algn="bl" rotWithShape="0" blurRad="114300" dist="38100" dir="5400000">
              <a:srgbClr val="5C2438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012680" y="2880360"/>
            <a:ext cx="640080" cy="640080"/>
          </a:xfrm>
          <a:prstGeom prst="ellipse">
            <a:avLst/>
          </a:prstGeom>
          <a:solidFill>
            <a:srgbClr val="47172C"/>
          </a:solidFill>
          <a:ln w="12700">
            <a:solidFill>
              <a:srgbClr val="BE647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28" y="303580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098280" y="36118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内部環境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9098280" y="402336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自社の経営資源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（強み・弱み）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098280" y="480060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人材・設備・拠点・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ノウハウ・物流網など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自社で動かせる要因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FRAMEWORK 01 ・ MACRO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PEST分析 ― マクロ環境を4つで掴む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自社ではコントロールできない大きなトレンドを、4つのカテゴリーに分けて「客観的な事実」として書き出します。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6112" y="2423160"/>
            <a:ext cx="868680" cy="86868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P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2395728" y="2532888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6700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3474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政治的要因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6112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Politics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96112" y="420624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法改正・規制強化／緩和、税制、補助金など。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" y="5056632"/>
            <a:ext cx="2267712" cy="896112"/>
          </a:xfrm>
          <a:prstGeom prst="roundRect">
            <a:avLst>
              <a:gd name="adj" fmla="val 6122"/>
            </a:avLst>
          </a:prstGeom>
          <a:solidFill>
            <a:srgbClr val="F7ECEF"/>
          </a:solidFill>
          <a:ln/>
        </p:spPr>
      </p:sp>
      <p:sp>
        <p:nvSpPr>
          <p:cNvPr id="16" name="Text 12"/>
          <p:cNvSpPr/>
          <p:nvPr/>
        </p:nvSpPr>
        <p:spPr>
          <a:xfrm>
            <a:off x="987552" y="5129784"/>
            <a:ext cx="2029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物流業の例
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物流2024年問題（働き方改革関連法）、DX関連の助成金。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557016" y="21488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13048" y="2423160"/>
            <a:ext cx="868680" cy="86868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19" name="Text 15"/>
          <p:cNvSpPr/>
          <p:nvPr/>
        </p:nvSpPr>
        <p:spPr>
          <a:xfrm>
            <a:off x="3813048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E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5312664" y="2532888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6700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13048" y="3474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経済的要因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813048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Economy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813048" y="420624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景気、物価、金利、為替、賃金水準など。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758184" y="5056632"/>
            <a:ext cx="2267712" cy="896112"/>
          </a:xfrm>
          <a:prstGeom prst="roundRect">
            <a:avLst>
              <a:gd name="adj" fmla="val 6122"/>
            </a:avLst>
          </a:prstGeom>
          <a:solidFill>
            <a:srgbClr val="F7ECEF"/>
          </a:solidFill>
          <a:ln/>
        </p:spPr>
      </p:sp>
      <p:sp>
        <p:nvSpPr>
          <p:cNvPr id="26" name="Text 21"/>
          <p:cNvSpPr/>
          <p:nvPr/>
        </p:nvSpPr>
        <p:spPr>
          <a:xfrm>
            <a:off x="3904488" y="5129784"/>
            <a:ext cx="2029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物流業の例
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燃料・原材料費の高騰、円安による輸送コストの変動。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73952" y="21488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729984" y="2423160"/>
            <a:ext cx="868680" cy="86868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29" name="Text 24"/>
          <p:cNvSpPr/>
          <p:nvPr/>
        </p:nvSpPr>
        <p:spPr>
          <a:xfrm>
            <a:off x="6729984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S</a:t>
            </a:r>
            <a:endParaRPr lang="en-US" sz="3400" dirty="0"/>
          </a:p>
        </p:txBody>
      </p:sp>
      <p:sp>
        <p:nvSpPr>
          <p:cNvPr id="30" name="Shape 25"/>
          <p:cNvSpPr/>
          <p:nvPr/>
        </p:nvSpPr>
        <p:spPr>
          <a:xfrm>
            <a:off x="8229600" y="2532888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67004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29984" y="3474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社会的要因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729984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Society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729984" y="420624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人口動態、流行、価値観・ライフスタイルの変化。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675120" y="5056632"/>
            <a:ext cx="2267712" cy="896112"/>
          </a:xfrm>
          <a:prstGeom prst="roundRect">
            <a:avLst>
              <a:gd name="adj" fmla="val 6122"/>
            </a:avLst>
          </a:prstGeom>
          <a:solidFill>
            <a:srgbClr val="F7ECEF"/>
          </a:solidFill>
          <a:ln/>
        </p:spPr>
      </p:sp>
      <p:sp>
        <p:nvSpPr>
          <p:cNvPr id="36" name="Text 30"/>
          <p:cNvSpPr/>
          <p:nvPr/>
        </p:nvSpPr>
        <p:spPr>
          <a:xfrm>
            <a:off x="6821424" y="5129784"/>
            <a:ext cx="2029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物流業の例
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労働人口の減少、EC市場拡大による宅配需要の増加。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9390888" y="21488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646920" y="2423160"/>
            <a:ext cx="868680" cy="86868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39" name="Text 33"/>
          <p:cNvSpPr/>
          <p:nvPr/>
        </p:nvSpPr>
        <p:spPr>
          <a:xfrm>
            <a:off x="9646920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</a:t>
            </a:r>
            <a:endParaRPr lang="en-US" sz="3400" dirty="0"/>
          </a:p>
        </p:txBody>
      </p:sp>
      <p:sp>
        <p:nvSpPr>
          <p:cNvPr id="40" name="Shape 34"/>
          <p:cNvSpPr/>
          <p:nvPr/>
        </p:nvSpPr>
        <p:spPr>
          <a:xfrm>
            <a:off x="11146536" y="2532888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696" y="2670048"/>
            <a:ext cx="329184" cy="32918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46920" y="3474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技術的要因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9646920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9646920" y="420624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新技術の登場、自動化、デジタル化の進展。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9592056" y="5056632"/>
            <a:ext cx="2267712" cy="896112"/>
          </a:xfrm>
          <a:prstGeom prst="roundRect">
            <a:avLst>
              <a:gd name="adj" fmla="val 6122"/>
            </a:avLst>
          </a:prstGeom>
          <a:solidFill>
            <a:srgbClr val="F7ECEF"/>
          </a:solidFill>
          <a:ln/>
        </p:spPr>
      </p:sp>
      <p:sp>
        <p:nvSpPr>
          <p:cNvPr id="46" name="Text 39"/>
          <p:cNvSpPr/>
          <p:nvPr/>
        </p:nvSpPr>
        <p:spPr>
          <a:xfrm>
            <a:off x="9738360" y="5129784"/>
            <a:ext cx="2029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物流業の例
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倉庫ロボット、配送AI・ルート最適化、自動運転。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FRAMEWORK 02 ・ MICRO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ファイブフォース分析 ― 5つの力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業界全体の「儲けやすさ（収益構造）」を、5つの競争要因から把握するフレームワーク（M.ポーター提唱）。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99048" y="2788920"/>
            <a:ext cx="0" cy="594360"/>
          </a:xfrm>
          <a:prstGeom prst="line">
            <a:avLst/>
          </a:prstGeom>
          <a:noFill/>
          <a:ln w="31750">
            <a:solidFill>
              <a:srgbClr val="BE647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099048" y="5074920"/>
            <a:ext cx="0" cy="-548640"/>
          </a:xfrm>
          <a:prstGeom prst="line">
            <a:avLst/>
          </a:prstGeom>
          <a:noFill/>
          <a:ln w="31750">
            <a:solidFill>
              <a:srgbClr val="BE647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069080" y="3959352"/>
            <a:ext cx="960120" cy="0"/>
          </a:xfrm>
          <a:prstGeom prst="line">
            <a:avLst/>
          </a:prstGeom>
          <a:noFill/>
          <a:ln w="31750">
            <a:solidFill>
              <a:srgbClr val="BE647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092440" y="3959352"/>
            <a:ext cx="-960120" cy="0"/>
          </a:xfrm>
          <a:prstGeom prst="line">
            <a:avLst/>
          </a:prstGeom>
          <a:noFill/>
          <a:ln w="31750">
            <a:solidFill>
              <a:srgbClr val="BE647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74920" y="342900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5C2438"/>
          </a:solidFill>
          <a:ln w="19050">
            <a:solidFill>
              <a:srgbClr val="5C243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66360" y="35753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業界内の競争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84648" y="3959352"/>
            <a:ext cx="1837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競合との競争の激しさ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37760" y="178308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CE8A9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0" y="1929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新規参入の脅威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47488" y="231343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参入障壁は高いか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507492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CE8A9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52212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代替品の脅威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47488" y="560527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別の手段で代替されないか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234440" y="338328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CE8A9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325880" y="35295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売り手の交渉力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44168" y="3913632"/>
            <a:ext cx="2615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仕入れ・調達コストが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高騰しないか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38160" y="338328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CE8A9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0" y="35295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買い手の交渉力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47888" y="3913632"/>
            <a:ext cx="2615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値下げ・品質要求が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強すぎないか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FRAMEWORK 02 ・ APPLY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5つの力を物流業で読み解く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487168"/>
            <a:ext cx="640080" cy="6400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63347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新規参入の脅威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32688" y="327355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拠点・車両・人材の初期投資が参入障壁。マッチング型の新興プレイヤーには注意。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34840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2487168"/>
            <a:ext cx="640080" cy="6400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63347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代替品の脅威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727448" y="327355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荷主の内製化（自社物流）、他輸送モード（鉄道・海運）への切り替え。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0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03920" y="2487168"/>
            <a:ext cx="640080" cy="6400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4" y="263347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売り手の交渉力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522208" y="327355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燃料・車両・委託先ドライバー。供給がひっ迫すると調達コストが上がる。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206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5C2438"/>
          </a:solidFill>
          <a:ln w="15875">
            <a:solidFill>
              <a:srgbClr val="5C243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4400" y="4498848"/>
            <a:ext cx="640080" cy="640080"/>
          </a:xfrm>
          <a:prstGeom prst="ellipse">
            <a:avLst/>
          </a:prstGeom>
          <a:solidFill>
            <a:srgbClr val="47172C"/>
          </a:solidFill>
          <a:ln w="12700">
            <a:solidFill>
              <a:srgbClr val="BE647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64515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4517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業界内の競争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32688" y="52852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事業者数が多く、価格競争に陥りやすい。差別化が難しいほど収益性が下がる。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34840" y="4206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09160" y="4498848"/>
            <a:ext cx="640080" cy="6400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464515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86400" y="4517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買い手の交渉力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4727448" y="52852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大口荷主は値下げ・品質向上の要求が強い。依存度が高いほど不利になりやすい。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229600" y="4206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503920" y="4498848"/>
            <a:ext cx="640080" cy="64008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224" y="464515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81160" y="4517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読み解きのコツ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8522208" y="52852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5つを一覧化し、自社にとって「脅威が強い力」がどこかを特定する。そこに打ち手を集中させる。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FRAMEWORK 03 ・ CUSTOMER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マーケットイン ― 顧客起点で考える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市場が本当に求めているモノを開発・提供する考え方。「作れるもの」を売るのではなく、「求められるもの」から逆算します。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7ECEF"/>
          </a:solidFill>
          <a:ln w="15875">
            <a:solidFill>
              <a:srgbClr val="EAD0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発想の向き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プロダクトアウト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自社が作れるものを起点にする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8A99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5C243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4297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マーケットイン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顧客が必要とするものを起点にする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マーケットインの3つのメリット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0" y="260604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57800" y="2862072"/>
            <a:ext cx="548640" cy="54864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989320" y="2752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顧客が必要とする製品を提供できる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89320" y="3108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事前にニーズを調査するため、期待・信頼度が高まりリピーター獲得につながる。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0" y="3767328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57800" y="4023360"/>
            <a:ext cx="548640" cy="54864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89320" y="3913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売上を予測しやすい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89320" y="42702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市場ニーズを把握した上で開発するため、事業計画が立てやすい。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29200" y="4928616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57800" y="5184648"/>
            <a:ext cx="548640" cy="54864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26" name="Text 23"/>
          <p:cNvSpPr/>
          <p:nvPr/>
        </p:nvSpPr>
        <p:spPr>
          <a:xfrm>
            <a:off x="5257800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98932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開発目標を設定しやすい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989320" y="54315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「顧客が求めるもの」がそのまま開発目標になり、数値目標も置きやすい。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FRAMEWORK 03 ・ CUSTOMER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定性分析 ― 数値で測れないものを掴む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数字だけでは把握できない「現場の声」や「未知の情報」を、自由記述などのテキストから読み取る分析です。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定量分析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数値・データで測る。出荷件数、配送時間、コストなど「どれだけ」を客観的に把握する。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85232" cy="1691640"/>
          </a:xfrm>
          <a:prstGeom prst="roundRect">
            <a:avLst>
              <a:gd name="adj" fmla="val 5405"/>
            </a:avLst>
          </a:prstGeom>
          <a:solidFill>
            <a:srgbClr val="5C2438"/>
          </a:solidFill>
          <a:ln/>
          <a:effectLst>
            <a:outerShdw sx="100000" sy="100000" kx="0" ky="0" algn="bl" rotWithShape="0" blurRad="114300" dist="38100" dir="5400000">
              <a:srgbClr val="5C2438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定性分析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言葉・記述で捉える。「なぜ」「どう感じているか」など、数値化しにくい背景や本音を把握する。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069080"/>
            <a:ext cx="10908792" cy="2011680"/>
          </a:xfrm>
          <a:prstGeom prst="roundRect">
            <a:avLst>
              <a:gd name="adj" fmla="val 4545"/>
            </a:avLst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3434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5262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物流現場での活用例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828800" y="470916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ドライバーへのアンケートを自由記述形式のテキストデータで集め、現場の課題を吸い上げる。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回収した声を整理し、毎日繰り返す「コア業務」と、まとめて処理できる「一括業務」に切り分ける。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数値に表れない「未知の情報」を発見し、改善やマーケットインの種にする。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INDUSTRY BASICS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D2A30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ロジスティクスと 3PL / 4PL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5C2438"/>
          </a:solidFill>
          <a:ln/>
          <a:effectLst>
            <a:outerShdw sx="100000" sy="100000" kx="0" ky="0" algn="bl" rotWithShape="0" blurRad="114300" dist="38100" dir="5400000">
              <a:srgbClr val="5C243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ロジスティクス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調達→生産→保管→配送→顧客まで、「モノの流れ」全体を一元管理し最適化する戦略的マネジメント。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376672" cy="1325880"/>
          </a:xfrm>
          <a:prstGeom prst="roundRect">
            <a:avLst>
              <a:gd name="adj" fmla="val 6897"/>
            </a:avLst>
          </a:prstGeom>
          <a:solidFill>
            <a:srgbClr val="F7ECEF"/>
          </a:solidFill>
          <a:ln w="15875">
            <a:solidFill>
              <a:srgbClr val="EAD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3PL（サードパーティー・ロジスティクス）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保管・在庫管理・梱包・配送など物流業務を、専門の第三者へ包括的に委託する仕組み。コスト削減と最適化が狙い。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誰が担うか ― 1PL → 4PL の違い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680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85900"/>
                <a:gridCol w="1485900"/>
                <a:gridCol w="1485900"/>
                <a:gridCol w="14859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役割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1PL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2PL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3PL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4PL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戦略策定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システム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マネジメント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物流業務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7077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荷主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243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物流事業者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D6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0080" y="5989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3PLは物流業務の運用を、4PLは戦略策定までを担う。日本では戦略支援まで行う事業者を「3PL」と呼ぶことも多い。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549640" y="3383280"/>
            <a:ext cx="2999232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EAD0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823960" y="3611880"/>
            <a:ext cx="603504" cy="603504"/>
          </a:xfrm>
          <a:prstGeom prst="ellipse">
            <a:avLst/>
          </a:prstGeom>
          <a:solidFill>
            <a:srgbClr val="F7ECEF"/>
          </a:solidFill>
          <a:ln w="12700">
            <a:solidFill>
              <a:srgbClr val="EAD0D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7490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5548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改善範囲が広がる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823960" y="4389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2A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3PLは請け負うプロセス（倉庫・輸配送）を対象に改善。4PLはサプライチェーン全体の最適化まで踏み込む。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70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47172C"/>
          </a:solidFill>
          <a:ln w="12700">
            <a:solidFill>
              <a:srgbClr val="A23E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4846320"/>
            <a:ext cx="2926080" cy="2926080"/>
          </a:xfrm>
          <a:prstGeom prst="ellipse">
            <a:avLst/>
          </a:prstGeom>
          <a:solidFill>
            <a:srgbClr val="5C24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まとめ ― 視点を行き来して使い分ける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47172C"/>
          </a:solidFill>
          <a:ln w="12700">
            <a:solidFill>
              <a:srgbClr val="BE647D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423160"/>
            <a:ext cx="731520" cy="731520"/>
          </a:xfrm>
          <a:prstGeom prst="ellipse">
            <a:avLst/>
          </a:prstGeom>
          <a:solidFill>
            <a:srgbClr val="F7ECE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968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 × マクロ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PEST分析で、政治・経済・社会・技術の大きな流れを事実として掴む。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39896" y="214884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47172C"/>
          </a:solidFill>
          <a:ln w="12700">
            <a:solidFill>
              <a:srgbClr val="BE647D">
                <a:alpha val="6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14216" y="2423160"/>
            <a:ext cx="731520" cy="731520"/>
          </a:xfrm>
          <a:prstGeom prst="ellipse">
            <a:avLst/>
          </a:prstGeom>
          <a:solidFill>
            <a:srgbClr val="F7ECE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5968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14216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 × ミクロ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014216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ファイブフォースで、業界の競争構造から「儲けやすさ」を読む。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56832" y="214884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47172C"/>
          </a:solidFill>
          <a:ln w="12700">
            <a:solidFill>
              <a:srgbClr val="BE647D">
                <a:alpha val="6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1152" y="2423160"/>
            <a:ext cx="731520" cy="731520"/>
          </a:xfrm>
          <a:prstGeom prst="ellipse">
            <a:avLst/>
          </a:prstGeom>
          <a:solidFill>
            <a:srgbClr val="F7ECE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5968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 × 市場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931152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マーケットインと定性分析で、顧客が本当に求めるものを起点にする。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573768" y="214884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47172C"/>
          </a:solidFill>
          <a:ln w="12700">
            <a:solidFill>
              <a:srgbClr val="BE647D">
                <a:alpha val="6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848088" y="2423160"/>
            <a:ext cx="731520" cy="731520"/>
          </a:xfrm>
          <a:prstGeom prst="ellipse">
            <a:avLst/>
          </a:prstGeom>
          <a:solidFill>
            <a:srgbClr val="F7ECE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25968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48088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 × 自社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848088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D0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強み・弱みを把握し、機会を活かし脅威に備える打ち手へつなげる。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22960" y="4937760"/>
            <a:ext cx="10561320" cy="1051560"/>
          </a:xfrm>
          <a:prstGeom prst="roundRect">
            <a:avLst>
              <a:gd name="adj" fmla="val 8696"/>
            </a:avLst>
          </a:prstGeom>
          <a:solidFill>
            <a:srgbClr val="F7ECEF"/>
          </a:solidFill>
          <a:ln/>
        </p:spPr>
      </p:sp>
      <p:sp>
        <p:nvSpPr>
          <p:cNvPr id="27" name="Text 21"/>
          <p:cNvSpPr/>
          <p:nvPr/>
        </p:nvSpPr>
        <p:spPr>
          <a:xfrm>
            <a:off x="1097280" y="4937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23E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次の一歩 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24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実際の物流企業を1社えらび、PEST → ファイブフォースの順に「事実」を書き出してみましょう。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8A9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環境分析フレームワーク入門</dc:title>
  <dc:subject>PptxGenJS Presentation</dc:subject>
  <dc:creator>うさうさ研修工房</dc:creator>
  <cp:lastModifiedBy>うさうさ研修工房</cp:lastModifiedBy>
  <cp:revision>1</cp:revision>
  <dcterms:created xsi:type="dcterms:W3CDTF">2026-06-11T04:34:01Z</dcterms:created>
  <dcterms:modified xsi:type="dcterms:W3CDTF">2026-06-11T04:34:01Z</dcterms:modified>
</cp:coreProperties>
</file>